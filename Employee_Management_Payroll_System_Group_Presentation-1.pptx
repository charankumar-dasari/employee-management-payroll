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457200"/>
            <a:ext cx="2286000" cy="2286000"/>
          </a:xfrm>
          <a:prstGeom prst="ellipse">
            <a:avLst/>
          </a:prstGeom>
          <a:solidFill>
            <a:srgbClr val="2F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1920240"/>
            <a:ext cx="1554480" cy="1554480"/>
          </a:xfrm>
          <a:prstGeom prst="ellipse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3108960"/>
            <a:ext cx="2194560" cy="2194560"/>
          </a:xfrm>
          <a:prstGeom prst="ellipse">
            <a:avLst/>
          </a:prstGeom>
          <a:solidFill>
            <a:srgbClr val="22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C9C97"/>
                </a:solidFill>
                <a:latin typeface="Aptos"/>
              </a:defRPr>
            </a:pPr>
            <a:r>
              <a:t>GROUP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7863840" cy="1417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Employee Management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&amp; Payroll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7040880" cy="8229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DCE4F0"/>
                </a:solidFill>
                <a:latin typeface="Aptos"/>
              </a:defRPr>
            </a:pPr>
            <a:r>
              <a:t>A Java-based application to manage employee records,</a:t>
            </a:r>
          </a:p>
          <a:p>
            <a:pPr>
              <a:spcAft>
                <a:spcPts val="700"/>
              </a:spcAft>
              <a:defRPr sz="1900" b="0">
                <a:solidFill>
                  <a:srgbClr val="DCE4F0"/>
                </a:solidFill>
                <a:latin typeface="Aptos"/>
              </a:defRPr>
            </a:pPr>
            <a:r>
              <a:t>calculate payroll, and generate reports.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7315200" cy="4572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Java • OOP • Collections • Spring Boot • JDBC • MySQL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640080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ECADC"/>
                </a:solidFill>
                <a:latin typeface="Aptos"/>
              </a:defRPr>
            </a:pPr>
            <a:r>
              <a:t>Presented by: Group of 4 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E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384"/>
                </a:solidFill>
                <a:latin typeface="Aptos"/>
              </a:defRPr>
            </a:pPr>
            <a:r>
              <a:t>What the system is designed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1463040"/>
          </a:xfrm>
          <a:prstGeom prst="rect">
            <a:avLst/>
          </a:prstGeom>
          <a:solidFill>
            <a:srgbClr val="2F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83080"/>
            <a:ext cx="306324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Employee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67128"/>
            <a:ext cx="3063240" cy="8412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Register employees and maintain IDs, names, departments, roles, and salary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73152" cy="1463040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83080"/>
            <a:ext cx="306324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Payroll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67128"/>
            <a:ext cx="3063240" cy="8412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Calculate gross salary, bonus, deductions, and net salary with reusable methods.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29000" cy="1463040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73152" cy="1463040"/>
          </a:xfrm>
          <a:prstGeom prst="rect">
            <a:avLst/>
          </a:prstGeom>
          <a:solidFill>
            <a:srgbClr val="D48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783080"/>
            <a:ext cx="306324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67128"/>
            <a:ext cx="3063240" cy="8412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Search employee records and export reports with exception handling.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10515600" cy="4114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4223E"/>
                </a:solidFill>
                <a:latin typeface="Aptos"/>
              </a:defRPr>
            </a:pPr>
            <a:r>
              <a:t>Primary use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10515600" cy="10058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83242"/>
                </a:solidFill>
                <a:latin typeface="Aptos"/>
              </a:defRPr>
            </a:pPr>
            <a:r>
              <a:t>Company HR and salary processing: keep employee information organized, calculate payroll consistently, and make results easy to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384"/>
                </a:solidFill>
                <a:latin typeface="Aptos"/>
              </a:defRPr>
            </a:pPr>
            <a:r>
              <a:t>EMPLOYEE MANAGEMENT &amp; PAYROLL SYSTEM  |  GROUP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67384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E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384"/>
                </a:solidFill>
                <a:latin typeface="Aptos"/>
              </a:defRPr>
            </a:pPr>
            <a:r>
              <a:t>Why a unified employee system is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223E"/>
                </a:solidFill>
                <a:latin typeface="Aptos"/>
              </a:defRPr>
            </a:pPr>
            <a:r>
              <a:t>Current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5029200" cy="32004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Employee details may be scattered across files.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Manual salary calculations can be inconsistent.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Searching records and preparing reports takes time.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Updates should be reliable and consistent.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0292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223E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48840"/>
            <a:ext cx="5029200" cy="32004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Build reusable Java classes and payroll methods.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Store and search employee records efficiently.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Provide CRUD APIs and a registration interface.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Connect to MySQL and demonstrate build/deployment basics.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384"/>
                </a:solidFill>
                <a:latin typeface="Aptos"/>
              </a:defRPr>
            </a:pPr>
            <a:r>
              <a:t>EMPLOYEE MANAGEMENT &amp; PAYROLL SYSTEM  |  GROUP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67384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E"/>
                </a:solidFill>
                <a:latin typeface="Aptos"/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384"/>
                </a:solidFill>
                <a:latin typeface="Aptos"/>
              </a:defRPr>
            </a:pPr>
            <a:r>
              <a:t>How the four workstreams connect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74519" y="1600200"/>
            <a:ext cx="8412480" cy="621792"/>
          </a:xfrm>
          <a:prstGeom prst="roundRect">
            <a:avLst/>
          </a:prstGeom>
          <a:solidFill>
            <a:srgbClr val="F2F6FC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4519" y="1600200"/>
            <a:ext cx="109728" cy="621792"/>
          </a:xfrm>
          <a:prstGeom prst="rect">
            <a:avLst/>
          </a:prstGeom>
          <a:solidFill>
            <a:srgbClr val="2F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1673352"/>
            <a:ext cx="2103120" cy="25603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23E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673352"/>
            <a:ext cx="566928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242"/>
                </a:solidFill>
                <a:latin typeface="Aptos"/>
              </a:defRPr>
            </a:pPr>
            <a:r>
              <a:t>HTML / CSS employee registration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203704"/>
            <a:ext cx="731520" cy="20116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C9C9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2441448"/>
            <a:ext cx="8412480" cy="621792"/>
          </a:xfrm>
          <a:prstGeom prst="roundRect">
            <a:avLst/>
          </a:prstGeom>
          <a:solidFill>
            <a:srgbClr val="F2F6FC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4519" y="2441448"/>
            <a:ext cx="109728" cy="621792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2514600"/>
            <a:ext cx="2103120" cy="25603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23E"/>
                </a:solidFill>
                <a:latin typeface="Aptos"/>
              </a:defRPr>
            </a:pPr>
            <a:r>
              <a:t>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514600"/>
            <a:ext cx="566928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242"/>
                </a:solidFill>
                <a:latin typeface="Aptos"/>
              </a:defRPr>
            </a:pPr>
            <a:r>
              <a:t>Spring Boot Controller — CRUD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044952"/>
            <a:ext cx="731520" cy="20116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C9C9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3282696"/>
            <a:ext cx="8412480" cy="621792"/>
          </a:xfrm>
          <a:prstGeom prst="roundRect">
            <a:avLst/>
          </a:prstGeom>
          <a:solidFill>
            <a:srgbClr val="F2F6FC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74519" y="3282696"/>
            <a:ext cx="109728" cy="621792"/>
          </a:xfrm>
          <a:prstGeom prst="rect">
            <a:avLst/>
          </a:prstGeom>
          <a:solidFill>
            <a:srgbClr val="2D8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3355848"/>
            <a:ext cx="2103120" cy="25603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23E"/>
                </a:solidFill>
                <a:latin typeface="Aptos"/>
              </a:defRPr>
            </a:pPr>
            <a:r>
              <a:t>Business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355848"/>
            <a:ext cx="566928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242"/>
                </a:solidFill>
                <a:latin typeface="Aptos"/>
              </a:defRPr>
            </a:pPr>
            <a:r>
              <a:t>Service — validation and payroll calculations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886200"/>
            <a:ext cx="731520" cy="20116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C9C9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4123944"/>
            <a:ext cx="8412480" cy="621792"/>
          </a:xfrm>
          <a:prstGeom prst="roundRect">
            <a:avLst/>
          </a:prstGeom>
          <a:solidFill>
            <a:srgbClr val="F2F6FC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4519" y="4123944"/>
            <a:ext cx="109728" cy="621792"/>
          </a:xfrm>
          <a:prstGeom prst="rect">
            <a:avLst/>
          </a:prstGeom>
          <a:solidFill>
            <a:srgbClr val="D48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4197096"/>
            <a:ext cx="2103120" cy="25603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23E"/>
                </a:solidFill>
                <a:latin typeface="Aptos"/>
              </a:defRPr>
            </a:pPr>
            <a:r>
              <a:t>Data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197096"/>
            <a:ext cx="566928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242"/>
                </a:solidFill>
                <a:latin typeface="Aptos"/>
              </a:defRPr>
            </a:pPr>
            <a:r>
              <a:t>JDBC / repository layer — SQL queries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727448"/>
            <a:ext cx="731520" cy="20116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C9C9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74519" y="4965192"/>
            <a:ext cx="8412480" cy="621792"/>
          </a:xfrm>
          <a:prstGeom prst="roundRect">
            <a:avLst/>
          </a:prstGeom>
          <a:solidFill>
            <a:srgbClr val="F2F6FC"/>
          </a:solidFill>
          <a:ln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74519" y="4965192"/>
            <a:ext cx="109728" cy="62179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48840" y="5038344"/>
            <a:ext cx="2103120" cy="256032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23E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5038344"/>
            <a:ext cx="566928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242"/>
                </a:solidFill>
                <a:latin typeface="Aptos"/>
              </a:defRPr>
            </a:pPr>
            <a:r>
              <a:t>MySQL — Employee and Department tables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384"/>
                </a:solidFill>
                <a:latin typeface="Aptos"/>
              </a:defRPr>
            </a:pPr>
            <a:r>
              <a:t>EMPLOYEE MANAGEMENT &amp; PAYROLL SYSTEM  |  GROUP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67384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E"/>
                </a:solidFill>
                <a:latin typeface="Aptos"/>
              </a:defRPr>
            </a:pPr>
            <a:r>
              <a:t>Member 1 — Java fundamentals &amp; 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384"/>
                </a:solidFill>
                <a:latin typeface="Aptos"/>
              </a:defRPr>
            </a:pPr>
            <a:r>
              <a:t>Core employee model and salary calculations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3383280" cy="1417320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73152" cy="1417320"/>
          </a:xfrm>
          <a:prstGeom prst="rect">
            <a:avLst/>
          </a:prstGeom>
          <a:solidFill>
            <a:srgbClr val="2F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828800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Employee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12848"/>
            <a:ext cx="3017520" cy="79552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Base class: employeeId, name, department, basicSalary; constructors and common methods.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83280" cy="1417320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73152" cy="1417320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28800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12848"/>
            <a:ext cx="3017520" cy="79552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Subclass of Employee; override a method for a role-specific bonus.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91640"/>
            <a:ext cx="3383280" cy="1417320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691640"/>
            <a:ext cx="73152" cy="1417320"/>
          </a:xfrm>
          <a:prstGeom prst="rect">
            <a:avLst/>
          </a:prstGeom>
          <a:solidFill>
            <a:srgbClr val="D48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828800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212848"/>
            <a:ext cx="3017520" cy="79552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Subclass of Employee; demonstrate a different bonus rule through overriding.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11880"/>
            <a:ext cx="493776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23E"/>
                </a:solidFill>
                <a:latin typeface="Aptos"/>
              </a:defRPr>
            </a:pPr>
            <a:r>
              <a:t>Payroll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96512"/>
            <a:ext cx="5120640" cy="11430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83242"/>
                </a:solidFill>
                <a:latin typeface="Aptos"/>
              </a:defRPr>
            </a:pPr>
            <a:r>
              <a:t>Gross salary = basic salary + bonus</a:t>
            </a:r>
          </a:p>
          <a:p>
            <a:pPr>
              <a:spcAft>
                <a:spcPts val="700"/>
              </a:spcAft>
              <a:defRPr sz="1800" b="0">
                <a:solidFill>
                  <a:srgbClr val="283242"/>
                </a:solidFill>
                <a:latin typeface="Aptos"/>
              </a:defRPr>
            </a:pPr>
            <a:r>
              <a:t>Net salary = gross salary − deductions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611880"/>
            <a:ext cx="50292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23E"/>
                </a:solidFill>
                <a:latin typeface="Aptos"/>
              </a:defRPr>
            </a:pPr>
            <a:r>
              <a:t>Concepts to demonstrate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069080"/>
            <a:ext cx="4937760" cy="1508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242"/>
                </a:solidFill>
                <a:latin typeface="Aptos"/>
              </a:defRPr>
            </a:pPr>
            <a:r>
              <a:t>•  Constructors and encapsulation</a:t>
            </a:r>
          </a:p>
          <a:p>
            <a:pPr>
              <a:spcAft>
                <a:spcPts val="700"/>
              </a:spcAft>
              <a:defRPr sz="1500" b="0">
                <a:solidFill>
                  <a:srgbClr val="283242"/>
                </a:solidFill>
                <a:latin typeface="Aptos"/>
              </a:defRPr>
            </a:pPr>
            <a:r>
              <a:t>•  Inheritance and method overriding</a:t>
            </a:r>
          </a:p>
          <a:p>
            <a:pPr>
              <a:spcAft>
                <a:spcPts val="700"/>
              </a:spcAft>
              <a:defRPr sz="1500" b="0">
                <a:solidFill>
                  <a:srgbClr val="283242"/>
                </a:solidFill>
                <a:latin typeface="Aptos"/>
              </a:defRPr>
            </a:pPr>
            <a:r>
              <a:t>•  Methods for bonus, deductions, and net salary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384"/>
                </a:solidFill>
                <a:latin typeface="Aptos"/>
              </a:defRPr>
            </a:pPr>
            <a:r>
              <a:t>EMPLOYEE MANAGEMENT &amp; PAYROLL SYSTEM  |  GROUP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67384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E"/>
                </a:solidFill>
                <a:latin typeface="Aptos"/>
              </a:defRPr>
            </a:pPr>
            <a:r>
              <a:t>Member 2 — Collections &amp; file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384"/>
                </a:solidFill>
                <a:latin typeface="Aptos"/>
              </a:defRPr>
            </a:pPr>
            <a:r>
              <a:t>Manage, search, and export employee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38328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73152" cy="1508760"/>
          </a:xfrm>
          <a:prstGeom prst="rect">
            <a:avLst/>
          </a:prstGeom>
          <a:solidFill>
            <a:srgbClr val="2F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28800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Store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12848"/>
            <a:ext cx="3017520" cy="886967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Use ArrayList&lt;Employee&gt; for a simple in-memory collection.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8328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73152" cy="1508760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28800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Search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12848"/>
            <a:ext cx="3017520" cy="886967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Search by employee ID or filter employees by department.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91640"/>
            <a:ext cx="338328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691640"/>
            <a:ext cx="73152" cy="1508760"/>
          </a:xfrm>
          <a:prstGeom prst="rect">
            <a:avLst/>
          </a:prstGeom>
          <a:solidFill>
            <a:srgbClr val="D48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828800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Export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212848"/>
            <a:ext cx="3017520" cy="886967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Write employee and payroll details to a text or CSV 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94760"/>
            <a:ext cx="105156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23E"/>
                </a:solidFill>
                <a:latin typeface="Aptos"/>
              </a:defRPr>
            </a:pPr>
            <a:r>
              <a:t>Suggested demo 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10424160" cy="1417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Add employee objects to a collection.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Search by ID and list employees in a department.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Export results and demonstrate handling file errors.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384"/>
                </a:solidFill>
                <a:latin typeface="Aptos"/>
              </a:defRPr>
            </a:pPr>
            <a:r>
              <a:t>EMPLOYEE MANAGEMENT &amp; PAYROLL SYSTEM  |  GROUP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67384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E"/>
                </a:solidFill>
                <a:latin typeface="Aptos"/>
              </a:defRPr>
            </a:pPr>
            <a:r>
              <a:t>Member 3 — HTML, CSS &amp; Spring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384"/>
                </a:solidFill>
                <a:latin typeface="Aptos"/>
              </a:defRPr>
            </a:pPr>
            <a:r>
              <a:t>Employee registration UI and REST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383280" cy="1554480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73152" cy="1554480"/>
          </a:xfrm>
          <a:prstGeom prst="rect">
            <a:avLst/>
          </a:prstGeom>
          <a:solidFill>
            <a:srgbClr val="2F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28800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Registration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12848"/>
            <a:ext cx="3017520" cy="93268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Fields: employee ID, name, department, role, and basic salary.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83280" cy="1554480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73152" cy="1554480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28800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CRUD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12848"/>
            <a:ext cx="3017520" cy="93268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Create, read, update, and delete employee records over HTTP.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91640"/>
            <a:ext cx="3383280" cy="1554480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691640"/>
            <a:ext cx="73152" cy="1554480"/>
          </a:xfrm>
          <a:prstGeom prst="rect">
            <a:avLst/>
          </a:prstGeom>
          <a:solidFill>
            <a:srgbClr val="D48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828800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Layered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212848"/>
            <a:ext cx="3017520" cy="93268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Controller handles requests; service applies rules; model represents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03320"/>
            <a:ext cx="105156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23E"/>
                </a:solidFill>
                <a:latin typeface="Aptos"/>
              </a:defRPr>
            </a:pPr>
            <a:r>
              <a:t>Example API 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87952"/>
            <a:ext cx="155448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C9C97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187952"/>
            <a:ext cx="384048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223E"/>
                </a:solidFill>
                <a:latin typeface="Aptos"/>
              </a:defRPr>
            </a:pPr>
            <a:r>
              <a:t>/api/employees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87952"/>
            <a:ext cx="4389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83242"/>
                </a:solidFill>
                <a:latin typeface="Aptos"/>
              </a:defRPr>
            </a:pPr>
            <a:r>
              <a:t>List employees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99432"/>
            <a:ext cx="155448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C9C97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599432"/>
            <a:ext cx="384048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223E"/>
                </a:solidFill>
                <a:latin typeface="Aptos"/>
              </a:defRPr>
            </a:pPr>
            <a:r>
              <a:t>/api/employees/{id}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99432"/>
            <a:ext cx="4389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83242"/>
                </a:solidFill>
                <a:latin typeface="Aptos"/>
              </a:defRPr>
            </a:pPr>
            <a:r>
              <a:t>Find one employee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10912"/>
            <a:ext cx="155448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C9C97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010912"/>
            <a:ext cx="384048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223E"/>
                </a:solidFill>
                <a:latin typeface="Aptos"/>
              </a:defRPr>
            </a:pPr>
            <a:r>
              <a:t>/api/employees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10912"/>
            <a:ext cx="4389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83242"/>
                </a:solidFill>
                <a:latin typeface="Aptos"/>
              </a:defRPr>
            </a:pPr>
            <a:r>
              <a:t>Register an employee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22392"/>
            <a:ext cx="155448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C9C97"/>
                </a:solidFill>
                <a:latin typeface="Aptos"/>
              </a:defRPr>
            </a:pPr>
            <a:r>
              <a:t>PUT / 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422392"/>
            <a:ext cx="384048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223E"/>
                </a:solidFill>
                <a:latin typeface="Aptos"/>
              </a:defRPr>
            </a:pPr>
            <a:r>
              <a:t>/api/employees/{id}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422392"/>
            <a:ext cx="43891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83242"/>
                </a:solidFill>
                <a:latin typeface="Aptos"/>
              </a:defRPr>
            </a:pPr>
            <a:r>
              <a:t>Update / delete employee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384"/>
                </a:solidFill>
                <a:latin typeface="Aptos"/>
              </a:defRPr>
            </a:pPr>
            <a:r>
              <a:t>EMPLOYEE MANAGEMENT &amp; PAYROLL SYSTEM  |  GROUP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67384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E"/>
                </a:solidFill>
                <a:latin typeface="Aptos"/>
              </a:defRPr>
            </a:pPr>
            <a:r>
              <a:t>Member 4 — SQL, JDBC &amp;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384"/>
                </a:solidFill>
                <a:latin typeface="Aptos"/>
              </a:defRPr>
            </a:pPr>
            <a:r>
              <a:t>Persist employee data and prepare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38328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73152" cy="1508760"/>
          </a:xfrm>
          <a:prstGeom prst="rect">
            <a:avLst/>
          </a:prstGeom>
          <a:solidFill>
            <a:srgbClr val="2F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783080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SQL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67128"/>
            <a:ext cx="3017520" cy="886967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Create Employee and Department tables with keys and suitable data types.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73152" cy="1508760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83080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JDBC / 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67128"/>
            <a:ext cx="3017520" cy="886967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Connect Java to MySQL; insert, retrieve, and update salary details.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45920"/>
            <a:ext cx="338328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645920"/>
            <a:ext cx="73152" cy="1508760"/>
          </a:xfrm>
          <a:prstGeom prst="rect">
            <a:avLst/>
          </a:prstGeom>
          <a:solidFill>
            <a:srgbClr val="D48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783080"/>
            <a:ext cx="30175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Build &amp;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167128"/>
            <a:ext cx="3017520" cy="886967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Use Maven to build; Git to track changes; Docker to package the app.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57600"/>
            <a:ext cx="1051560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23E"/>
                </a:solidFill>
                <a:latin typeface="Aptos"/>
              </a:defRPr>
            </a:pPr>
            <a:r>
              <a:t>Illustrative database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5029200" cy="12801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242"/>
                </a:solidFill>
                <a:latin typeface="Aptos"/>
              </a:defRPr>
            </a:pPr>
            <a:r>
              <a:t>Employee</a:t>
            </a:r>
          </a:p>
          <a:p>
            <a:pPr>
              <a:spcAft>
                <a:spcPts val="700"/>
              </a:spcAft>
              <a:defRPr sz="1500" b="0">
                <a:solidFill>
                  <a:srgbClr val="283242"/>
                </a:solidFill>
                <a:latin typeface="Aptos"/>
              </a:defRPr>
            </a:pPr>
            <a:r>
              <a:t>• employee_id (PK)</a:t>
            </a:r>
          </a:p>
          <a:p>
            <a:pPr>
              <a:spcAft>
                <a:spcPts val="700"/>
              </a:spcAft>
              <a:defRPr sz="1500" b="0">
                <a:solidFill>
                  <a:srgbClr val="283242"/>
                </a:solidFill>
                <a:latin typeface="Aptos"/>
              </a:defRPr>
            </a:pPr>
            <a:r>
              <a:t>• name, department_id (FK), role</a:t>
            </a:r>
          </a:p>
          <a:p>
            <a:pPr>
              <a:spcAft>
                <a:spcPts val="700"/>
              </a:spcAft>
              <a:defRPr sz="1500" b="0">
                <a:solidFill>
                  <a:srgbClr val="283242"/>
                </a:solidFill>
                <a:latin typeface="Aptos"/>
              </a:defRPr>
            </a:pPr>
            <a:r>
              <a:t>• basic_salary, bonus, deductions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114800"/>
            <a:ext cx="5029200" cy="12801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242"/>
                </a:solidFill>
                <a:latin typeface="Aptos"/>
              </a:defRPr>
            </a:pPr>
            <a:r>
              <a:t>Department</a:t>
            </a:r>
          </a:p>
          <a:p>
            <a:pPr>
              <a:spcAft>
                <a:spcPts val="700"/>
              </a:spcAft>
              <a:defRPr sz="1500" b="0">
                <a:solidFill>
                  <a:srgbClr val="283242"/>
                </a:solidFill>
                <a:latin typeface="Aptos"/>
              </a:defRPr>
            </a:pPr>
            <a:r>
              <a:t>• department_id (PK)</a:t>
            </a:r>
          </a:p>
          <a:p>
            <a:pPr>
              <a:spcAft>
                <a:spcPts val="700"/>
              </a:spcAft>
              <a:defRPr sz="1500" b="0">
                <a:solidFill>
                  <a:srgbClr val="283242"/>
                </a:solidFill>
                <a:latin typeface="Aptos"/>
              </a:defRPr>
            </a:pPr>
            <a:r>
              <a:t>• department_name</a:t>
            </a:r>
          </a:p>
          <a:p>
            <a:pPr>
              <a:spcAft>
                <a:spcPts val="700"/>
              </a:spcAft>
              <a:defRPr sz="1500" b="0">
                <a:solidFill>
                  <a:srgbClr val="283242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83242"/>
                </a:solidFill>
                <a:latin typeface="Aptos"/>
              </a:defRPr>
            </a:pPr>
            <a:r>
              <a:t>One department can have many employees.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384"/>
                </a:solidFill>
                <a:latin typeface="Aptos"/>
              </a:defRPr>
            </a:pPr>
            <a:r>
              <a:t>EMPLOYEE MANAGEMENT &amp; PAYROLL SYSTEM  |  GROUP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67384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E"/>
                </a:solidFill>
                <a:latin typeface="Aptos"/>
              </a:defRPr>
            </a:pPr>
            <a:r>
              <a:t>Payroll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384"/>
                </a:solidFill>
                <a:latin typeface="Aptos"/>
              </a:defRPr>
            </a:pPr>
            <a:r>
              <a:t>A transparent calculation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754880" cy="4114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23E"/>
                </a:solidFill>
                <a:latin typeface="Aptos"/>
              </a:defRPr>
            </a:pPr>
            <a:r>
              <a:t>Example assumptions (demo only)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5029200" cy="2560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Basic salary: ₹40,000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Bonus: 10% of basic salary = ₹4,000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Deductions: ₹2,000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Net salary = ₹40,000 + ₹4,000 − ₹2,000 = ₹42,000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4389120" cy="2971800"/>
          </a:xfrm>
          <a:prstGeom prst="roundRect">
            <a:avLst/>
          </a:prstGeom>
          <a:solidFill>
            <a:srgbClr val="E0E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240280"/>
            <a:ext cx="3749039" cy="4572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2F67C4"/>
                </a:solidFill>
                <a:latin typeface="Aptos"/>
              </a:defRPr>
            </a:pPr>
            <a:r>
              <a:t>NET SALARY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88920"/>
            <a:ext cx="3840480" cy="8229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3200" b="1">
                <a:solidFill>
                  <a:srgbClr val="14223E"/>
                </a:solidFill>
                <a:latin typeface="Aptos"/>
              </a:defRPr>
            </a:pPr>
            <a:r>
              <a:t>₹42,000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886200"/>
            <a:ext cx="356616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667384"/>
                </a:solidFill>
                <a:latin typeface="Aptos"/>
              </a:defRPr>
            </a:pPr>
            <a:r>
              <a:t>Gross ₹44,000 − deductions ₹2,000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257800"/>
            <a:ext cx="10424160" cy="4114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384"/>
                </a:solidFill>
                <a:latin typeface="Aptos"/>
              </a:defRPr>
            </a:pPr>
            <a:r>
              <a:t>Actual bonus and deduction rules should be agreed by the project team.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384"/>
                </a:solidFill>
                <a:latin typeface="Aptos"/>
              </a:defRPr>
            </a:pPr>
            <a:r>
              <a:t>EMPLOYEE MANAGEMENT &amp; PAYROLL SYSTEM  |  GROUP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67384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E"/>
                </a:solidFill>
                <a:latin typeface="Aptos"/>
              </a:defRPr>
            </a:pPr>
            <a: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384"/>
                </a:solidFill>
                <a:latin typeface="Aptos"/>
              </a:defRPr>
            </a:pPr>
            <a:r>
              <a:t>From employee registration to payroll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057400"/>
            <a:ext cx="1691640" cy="1874519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1673352"/>
            <a:ext cx="548640" cy="548640"/>
          </a:xfrm>
          <a:prstGeom prst="ellipse">
            <a:avLst/>
          </a:prstGeom>
          <a:solidFill>
            <a:srgbClr val="2F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8308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14173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223E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1417320" cy="6400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83242"/>
                </a:solidFill>
                <a:latin typeface="Aptos"/>
              </a:defRPr>
            </a:pPr>
            <a:r>
              <a:t>Enter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697480"/>
            <a:ext cx="2743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C9C9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057400"/>
            <a:ext cx="1691640" cy="1874519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44368" y="1673352"/>
            <a:ext cx="548640" cy="548640"/>
          </a:xfrm>
          <a:prstGeom prst="ellipse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78308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514600"/>
            <a:ext cx="14173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223E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063240"/>
            <a:ext cx="1417320" cy="6400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83242"/>
                </a:solidFill>
                <a:latin typeface="Aptos"/>
              </a:defRPr>
            </a:pPr>
            <a:r>
              <a:t>Check required 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697480"/>
            <a:ext cx="2743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C9C9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057400"/>
            <a:ext cx="1691640" cy="1874519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10328" y="1673352"/>
            <a:ext cx="548640" cy="548640"/>
          </a:xfrm>
          <a:prstGeom prst="ellipse">
            <a:avLst/>
          </a:prstGeom>
          <a:solidFill>
            <a:srgbClr val="2D8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0328" y="178308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514600"/>
            <a:ext cx="14173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223E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063240"/>
            <a:ext cx="1417320" cy="6400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83242"/>
                </a:solidFill>
                <a:latin typeface="Aptos"/>
              </a:defRPr>
            </a:pPr>
            <a:r>
              <a:t>Bonus &amp; deductions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697480"/>
            <a:ext cx="2743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C9C9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2057400"/>
            <a:ext cx="1691640" cy="1874519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76288" y="1673352"/>
            <a:ext cx="548640" cy="548640"/>
          </a:xfrm>
          <a:prstGeom prst="ellipse">
            <a:avLst/>
          </a:prstGeom>
          <a:solidFill>
            <a:srgbClr val="D48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178308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514600"/>
            <a:ext cx="14173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223E"/>
                </a:solidFill>
                <a:latin typeface="Aptos"/>
              </a:defRPr>
            </a:pPr>
            <a:r>
              <a:t>Persist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063240"/>
            <a:ext cx="1417320" cy="6400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83242"/>
                </a:solidFill>
                <a:latin typeface="Aptos"/>
              </a:defRPr>
            </a:pPr>
            <a:r>
              <a:t>Save in MySQL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697480"/>
            <a:ext cx="2743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C9C9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19" y="2057400"/>
            <a:ext cx="1691640" cy="1874519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42247" y="1673352"/>
            <a:ext cx="548640" cy="548640"/>
          </a:xfrm>
          <a:prstGeom prst="ellipse">
            <a:avLst/>
          </a:prstGeom>
          <a:solidFill>
            <a:srgbClr val="2F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42247" y="178308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514600"/>
            <a:ext cx="14173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223E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063240"/>
            <a:ext cx="1417320" cy="6400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83242"/>
                </a:solidFill>
                <a:latin typeface="Aptos"/>
              </a:defRPr>
            </a:pPr>
            <a:r>
              <a:t>Search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59" y="2697480"/>
            <a:ext cx="274320" cy="274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C9C9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0" y="2057400"/>
            <a:ext cx="1691640" cy="1874519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08207" y="1673352"/>
            <a:ext cx="548640" cy="548640"/>
          </a:xfrm>
          <a:prstGeom prst="ellipse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08207" y="178308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2514600"/>
            <a:ext cx="14173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223E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3063240"/>
            <a:ext cx="1417320" cy="6400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83242"/>
                </a:solidFill>
                <a:latin typeface="Aptos"/>
              </a:defRPr>
            </a:pPr>
            <a:r>
              <a:t>Export file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754880"/>
            <a:ext cx="10515600" cy="6400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One employee record should be registered, retrieved, updated, used for payroll, and included in a report.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384"/>
                </a:solidFill>
                <a:latin typeface="Aptos"/>
              </a:defRPr>
            </a:pPr>
            <a:r>
              <a:t>EMPLOYEE MANAGEMENT &amp; PAYROLL SYSTEM  |  GROUP PROJECT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6738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E"/>
                </a:solidFill>
                <a:latin typeface="Aptos"/>
              </a:defRPr>
            </a:pPr>
            <a:r>
              <a:t>Database &amp; sample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384"/>
                </a:solidFill>
                <a:latin typeface="Aptos"/>
              </a:defRPr>
            </a:pPr>
            <a:r>
              <a:t>Suggested MySQL structure for the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212080" cy="38404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23E"/>
                </a:solidFill>
                <a:latin typeface="Aptos"/>
              </a:defRPr>
            </a:pPr>
            <a:r>
              <a:t>Illustrative table definitions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5760720" cy="342900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sz="1200">
                <a:solidFill>
                  <a:srgbClr val="283242"/>
                </a:solidFill>
                <a:latin typeface="Consolas"/>
              </a:defRPr>
            </a:pPr>
            <a:r>
              <a:t>CREATE TABLE Department (</a:t>
            </a:r>
            <a:br/>
            <a:r>
              <a:t>  department_id INT PRIMARY KEY,</a:t>
            </a:r>
            <a:br/>
            <a:r>
              <a:t>  department_name VARCHAR(80) NOT NULL</a:t>
            </a:r>
            <a:br/>
            <a:r>
              <a:t>);</a:t>
            </a:r>
            <a:br/>
            <a:br/>
            <a:r>
              <a:t>CREATE TABLE Employee (</a:t>
            </a:r>
            <a:br/>
            <a:r>
              <a:t>  employee_id INT PRIMARY KEY,</a:t>
            </a:r>
            <a:br/>
            <a:r>
              <a:t>  name VARCHAR(100) NOT NULL,</a:t>
            </a:r>
            <a:br/>
            <a:r>
              <a:t>  department_id INT,</a:t>
            </a:r>
            <a:br/>
            <a:r>
              <a:t>  role VARCHAR(50),</a:t>
            </a:r>
            <a:br/>
            <a:r>
              <a:t>  basic_salary DECIMAL(10,2),</a:t>
            </a:r>
            <a:br/>
            <a:r>
              <a:t>  bonus DECIMAL(10,2),</a:t>
            </a:r>
            <a:br/>
            <a:r>
              <a:t>  deductions DECIMAL(10,2),</a:t>
            </a:r>
            <a:br/>
            <a:r>
              <a:t>  FOREIGN KEY (department_id)</a:t>
            </a:r>
            <a:br/>
            <a:r>
              <a:t>    REFERENCES Department(department_id)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2057400"/>
            <a:ext cx="4114800" cy="365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23E"/>
                </a:solidFill>
                <a:latin typeface="Aptos"/>
              </a:defRPr>
            </a:pPr>
            <a:r>
              <a:t>Example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2560320"/>
            <a:ext cx="4434840" cy="228600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sz="1200">
                <a:solidFill>
                  <a:srgbClr val="283242"/>
                </a:solidFill>
                <a:latin typeface="Consolas"/>
              </a:defRPr>
            </a:pPr>
            <a:r>
              <a:t>SELECT e.employee_id, e.name,</a:t>
            </a:r>
            <a:br/>
            <a:r>
              <a:t>       d.department_name, e.basic_salary</a:t>
            </a:r>
            <a:br/>
            <a:r>
              <a:t>FROM Employee e</a:t>
            </a:r>
            <a:br/>
            <a:r>
              <a:t>LEFT JOIN Department d</a:t>
            </a:r>
            <a:br/>
            <a:r>
              <a:t>  ON e.department_id = d.department_id;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5074920"/>
            <a:ext cx="4023360" cy="5943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384"/>
                </a:solidFill>
                <a:latin typeface="Aptos"/>
              </a:defRPr>
            </a:pPr>
            <a:r>
              <a:t>Use test data only; do not show real employee or payroll 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384"/>
                </a:solidFill>
                <a:latin typeface="Aptos"/>
              </a:defRPr>
            </a:pPr>
            <a:r>
              <a:t>EMPLOYEE MANAGEMENT &amp; PAYROLL SYSTEM  |  GROUP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6738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E"/>
                </a:solidFill>
                <a:latin typeface="Aptos"/>
              </a:defRPr>
            </a:pPr>
            <a:r>
              <a:t>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384"/>
                </a:solidFill>
                <a:latin typeface="Aptos"/>
              </a:defRPr>
            </a:pPr>
            <a:r>
              <a:t>What the team should verify before presenting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5212080" cy="40233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Create an employee and confirm it is saved.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Retrieve all employees and search by ID/department.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Update employee details and salary fields.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Verify payroll using known test values.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Export a report and open the generated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91640"/>
            <a:ext cx="5029200" cy="40233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Reject missing names or invalid salary values.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Handle unknown employee IDs gracefully.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Handle database connection and SQL errors.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Prevent duplicate employee IDs.</a:t>
            </a:r>
          </a:p>
          <a:p>
            <a:pPr>
              <a:spcAft>
                <a:spcPts val="700"/>
              </a:spcAft>
              <a:defRPr sz="1600" b="0">
                <a:solidFill>
                  <a:srgbClr val="283242"/>
                </a:solidFill>
                <a:latin typeface="Aptos"/>
              </a:defRPr>
            </a:pPr>
            <a:r>
              <a:t>•  Confirm all four modules work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384"/>
                </a:solidFill>
                <a:latin typeface="Aptos"/>
              </a:defRPr>
            </a:pPr>
            <a:r>
              <a:t>EMPLOYEE MANAGEMENT &amp; PAYROLL SYSTEM  |  GROUP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6738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E"/>
                </a:solidFill>
                <a:latin typeface="Aptos"/>
              </a:defRPr>
            </a:pPr>
            <a:r>
              <a:t>Build, version control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384"/>
                </a:solidFill>
                <a:latin typeface="Aptos"/>
              </a:defRPr>
            </a:pPr>
            <a:r>
              <a:t>A simple team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737360"/>
            <a:ext cx="10149840" cy="749808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737360"/>
            <a:ext cx="73152" cy="749808"/>
          </a:xfrm>
          <a:prstGeom prst="rect">
            <a:avLst/>
          </a:prstGeom>
          <a:solidFill>
            <a:srgbClr val="2F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1874519"/>
            <a:ext cx="978408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Maven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258568"/>
            <a:ext cx="9784080" cy="128015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Resolve dependencies and build the JAR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97480"/>
            <a:ext cx="10149840" cy="749808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2697480"/>
            <a:ext cx="73152" cy="749808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834640"/>
            <a:ext cx="978408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218688"/>
            <a:ext cx="9784080" cy="128015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Commit small changes and merge reviewed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657600"/>
            <a:ext cx="10149840" cy="749808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3657600"/>
            <a:ext cx="73152" cy="749808"/>
          </a:xfrm>
          <a:prstGeom prst="rect">
            <a:avLst/>
          </a:prstGeom>
          <a:solidFill>
            <a:srgbClr val="D48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794760"/>
            <a:ext cx="978408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178808"/>
            <a:ext cx="9784080" cy="128015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Keep database credentials out of shared source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617720"/>
            <a:ext cx="10149840" cy="749808"/>
          </a:xfrm>
          <a:prstGeom prst="roundRect">
            <a:avLst/>
          </a:prstGeom>
          <a:solidFill>
            <a:srgbClr val="F2F6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4617720"/>
            <a:ext cx="73152" cy="749808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754880"/>
            <a:ext cx="978408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5138928"/>
            <a:ext cx="9784080" cy="128015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83242"/>
                </a:solidFill>
                <a:latin typeface="Aptos"/>
              </a:defRPr>
            </a:pPr>
            <a:r>
              <a:t>Build and run a container after local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715000"/>
            <a:ext cx="996696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D4832F"/>
                </a:solidFill>
                <a:latin typeface="Aptos"/>
              </a:defRPr>
            </a:pPr>
            <a:r>
              <a:t>Never include real passwords or confidential employee data in Git commits or screenshots.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384"/>
                </a:solidFill>
                <a:latin typeface="Aptos"/>
              </a:defRPr>
            </a:pPr>
            <a:r>
              <a:t>EMPLOYEE MANAGEMENT &amp; PAYROLL SYSTEM  |  GROUP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6738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E"/>
                </a:solidFill>
                <a:latin typeface="Aptos"/>
              </a:defRPr>
            </a:pPr>
            <a:r>
              <a:t>Final demonstration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67384"/>
                </a:solidFill>
                <a:latin typeface="Aptos"/>
              </a:defRPr>
            </a:pPr>
            <a:r>
              <a:t>A clear sequence for the live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600200"/>
            <a:ext cx="502920" cy="502920"/>
          </a:xfrm>
          <a:prstGeom prst="ellipse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502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18488"/>
            <a:ext cx="219456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Add employee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18488"/>
            <a:ext cx="7223760" cy="47548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242"/>
                </a:solidFill>
                <a:latin typeface="Aptos"/>
              </a:defRPr>
            </a:pPr>
            <a:r>
              <a:t>Submit the form or create an employee through the API.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50592"/>
            <a:ext cx="502920" cy="502920"/>
          </a:xfrm>
          <a:prstGeom prst="ellipse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502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468880"/>
            <a:ext cx="219456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Show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468880"/>
            <a:ext cx="7223760" cy="47548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242"/>
                </a:solidFill>
                <a:latin typeface="Aptos"/>
              </a:defRPr>
            </a:pPr>
            <a:r>
              <a:t>Run SELECT to confirm the record was saved.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300984"/>
            <a:ext cx="502920" cy="502920"/>
          </a:xfrm>
          <a:prstGeom prst="ellipse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10712"/>
            <a:ext cx="502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319272"/>
            <a:ext cx="219456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Calculate payroll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319272"/>
            <a:ext cx="7223760" cy="47548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242"/>
                </a:solidFill>
                <a:latin typeface="Aptos"/>
              </a:defRPr>
            </a:pPr>
            <a:r>
              <a:t>Display basic salary, bonus, deductions, and net salary.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151376"/>
            <a:ext cx="502920" cy="502920"/>
          </a:xfrm>
          <a:prstGeom prst="ellipse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61104"/>
            <a:ext cx="502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3"/>
            <a:ext cx="219456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Update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169663"/>
            <a:ext cx="7223760" cy="47548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242"/>
                </a:solidFill>
                <a:latin typeface="Aptos"/>
              </a:defRPr>
            </a:pPr>
            <a:r>
              <a:t>Change a department or salary and verify it.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001768"/>
            <a:ext cx="502920" cy="502920"/>
          </a:xfrm>
          <a:prstGeom prst="ellipse">
            <a:avLst/>
          </a:prstGeom>
          <a:solidFill>
            <a:srgbClr val="1C9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11496"/>
            <a:ext cx="50292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020056"/>
            <a:ext cx="2194560" cy="29260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23E"/>
                </a:solidFill>
                <a:latin typeface="Aptos"/>
              </a:defRPr>
            </a:pPr>
            <a:r>
              <a:t>Generate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020056"/>
            <a:ext cx="7223760" cy="475488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242"/>
                </a:solidFill>
                <a:latin typeface="Aptos"/>
              </a:defRPr>
            </a:pPr>
            <a:r>
              <a:t>Export the employee list and open the report.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384"/>
                </a:solidFill>
                <a:latin typeface="Aptos"/>
              </a:defRPr>
            </a:pPr>
            <a:r>
              <a:t>EMPLOYEE MANAGEMENT &amp; PAYROLL SYSTEM  |  GROUP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67384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5943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9875520" cy="100584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C9C97"/>
                </a:solidFill>
                <a:latin typeface="Aptos"/>
              </a:defRPr>
            </a:pPr>
            <a:r>
              <a:t>One integrated system. Four complementary workstreams.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9784080" cy="11430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DEE6F1"/>
                </a:solidFill>
                <a:latin typeface="Aptos"/>
              </a:defRPr>
            </a:pPr>
            <a:r>
              <a:t>The project combines object-oriented Java, collections and file handling, Spring Boot APIs, and SQL/JDBC persistence to support employee management and payroll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074920"/>
            <a:ext cx="9875520" cy="5943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Thank you  | 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72200"/>
            <a:ext cx="9875520" cy="22860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ECADC"/>
                </a:solidFill>
                <a:latin typeface="Aptos"/>
              </a:defRPr>
            </a:pPr>
            <a:r>
              <a:t>Employee Management &amp; Payroll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